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notesMaster" Target="notesMasters/notesMaster1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iew from inside a stone structure, looking out towards stairs and a clear, blue sky"/>
          <p:cNvSpPr>
            <a:spLocks noGrp="1"/>
          </p:cNvSpPr>
          <p:nvPr>
            <p:ph type="pic" idx="21"/>
          </p:nvPr>
        </p:nvSpPr>
        <p:spPr>
          <a:xfrm>
            <a:off x="0" y="-1270000"/>
            <a:ext cx="24384000" cy="16272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 modern white building with glass panels against a clear, blue sky"/>
          <p:cNvSpPr>
            <a:spLocks noGrp="1"/>
          </p:cNvSpPr>
          <p:nvPr>
            <p:ph type="pic" idx="21"/>
          </p:nvPr>
        </p:nvSpPr>
        <p:spPr>
          <a:xfrm>
            <a:off x="92710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Small section of a modern shell bridge in Qingdao, Shandong, China with a partly cloudy sky above"/>
          <p:cNvSpPr>
            <a:spLocks noGrp="1"/>
          </p:cNvSpPr>
          <p:nvPr>
            <p:ph type="pic" idx="22"/>
          </p:nvPr>
        </p:nvSpPr>
        <p:spPr>
          <a:xfrm>
            <a:off x="9271000" y="1263848"/>
            <a:ext cx="16773843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8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Low-angle exterior view of a modern building facade covered with aluminium discs under a clear, blue sky"/>
          <p:cNvSpPr>
            <a:spLocks noGrp="1"/>
          </p:cNvSpPr>
          <p:nvPr>
            <p:ph type="pic" sz="quarter" idx="21"/>
          </p:nvPr>
        </p:nvSpPr>
        <p:spPr>
          <a:xfrm>
            <a:off x="15417800" y="1270000"/>
            <a:ext cx="8144934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Low-angle view of a modern, curved building under a cloudy sky"/>
          <p:cNvSpPr>
            <a:spLocks noGrp="1"/>
          </p:cNvSpPr>
          <p:nvPr>
            <p:ph type="pic" sz="quarter" idx="22"/>
          </p:nvPr>
        </p:nvSpPr>
        <p:spPr>
          <a:xfrm>
            <a:off x="15443200" y="7086600"/>
            <a:ext cx="8138580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View from inside a modern white building with glass panels, looking up to a bright, partly cloudy sky"/>
          <p:cNvSpPr>
            <a:spLocks noGrp="1"/>
          </p:cNvSpPr>
          <p:nvPr>
            <p:ph type="pic" idx="23"/>
          </p:nvPr>
        </p:nvSpPr>
        <p:spPr>
          <a:xfrm>
            <a:off x="-124635" y="1270000"/>
            <a:ext cx="16840169" cy="1124371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Low-angle view of the Azadi Tower in Tehran, Iran against a clear, bright sky"/>
          <p:cNvSpPr>
            <a:spLocks noGrp="1"/>
          </p:cNvSpPr>
          <p:nvPr>
            <p:ph type="pic" idx="21"/>
          </p:nvPr>
        </p:nvSpPr>
        <p:spPr>
          <a:xfrm>
            <a:off x="0" y="-1282700"/>
            <a:ext cx="24384000" cy="16281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image" Target="../media/image1.png" /><Relationship Id="rId2" Type="http://schemas.openxmlformats.org/officeDocument/2006/relationships/slideLayout" Target="../slideLayouts/slideLayout2.xml" /><Relationship Id="rId16" Type="http://schemas.openxmlformats.org/officeDocument/2006/relationships/theme" Target="../theme/theme1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6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" /><Relationship Id="rId1" Type="http://schemas.openxmlformats.org/officeDocument/2006/relationships/slideLayout" Target="../slideLayouts/slideLayout6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lurkmore.to/Reverse_Engineering" TargetMode="External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6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6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6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6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6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nifer/security-cheatsheets" TargetMode="External" /><Relationship Id="rId2" Type="http://schemas.openxmlformats.org/officeDocument/2006/relationships/hyperlink" Target="https://kmb.cybber.ru/" TargetMode="External" /><Relationship Id="rId1" Type="http://schemas.openxmlformats.org/officeDocument/2006/relationships/slideLayout" Target="../slideLayouts/slideLayout4.xml" /><Relationship Id="rId4" Type="http://schemas.openxmlformats.org/officeDocument/2006/relationships/hyperlink" Target="https://www.youtube.com/channel/UCaqi7baKiDd8jMR_fyjjccw" TargetMode="Externa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1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CTF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CTF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ask-based(jeopardy) - набор тасков в проверяющей системе, необходимо найти флаги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Task-based(jeopardy) - набор тасков в проверяющей системе, необходимо найти флаги</a:t>
            </a:r>
          </a:p>
          <a:p>
            <a:r>
              <a:t>Attack-Defence - поддержание функционирования отдельного сервера или части сети. Необходимо защищать свой сервер и атаковать чужие</a:t>
            </a:r>
          </a:p>
        </p:txBody>
      </p:sp>
      <p:pic>
        <p:nvPicPr>
          <p:cNvPr id="154" name="Small section of a modern shell bridge in Qingdao, Shandong, China with a partly cloudy sky above" descr="Small section of a modern shell bridge in Qingdao, Shandong, China with a partly cloudy sky above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/>
          <a:stretch>
            <a:fillRect/>
          </a:stretch>
        </p:blipFill>
        <p:spPr>
          <a:xfrm>
            <a:off x="11538766" y="2451893"/>
            <a:ext cx="12214046" cy="8812146"/>
          </a:xfrm>
          <a:prstGeom prst="rect">
            <a:avLst/>
          </a:prstGeom>
        </p:spPr>
      </p:pic>
      <p:sp>
        <p:nvSpPr>
          <p:cNvPr id="155" name="Типы CTF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Типы CTF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Задачи на task-based CTF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Задачи на task-based CTF</a:t>
            </a:r>
          </a:p>
        </p:txBody>
      </p:sp>
      <p:sp>
        <p:nvSpPr>
          <p:cNvPr id="158" name="Forensics – компьютерно-криминалистическая экспертиза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82600" indent="-482600" defTabSz="457200">
              <a:lnSpc>
                <a:spcPct val="100000"/>
              </a:lnSpc>
              <a:spcBef>
                <a:spcPts val="0"/>
              </a:spcBef>
            </a:pPr>
            <a:r>
              <a:rPr b="1"/>
              <a:t>Forensics</a:t>
            </a:r>
            <a:r>
              <a:t> – компьютерно-криминалистическая экспертиза</a:t>
            </a:r>
          </a:p>
          <a:p>
            <a:pPr marL="482600" indent="-482600" defTabSz="457200">
              <a:lnSpc>
                <a:spcPct val="100000"/>
              </a:lnSpc>
              <a:spcBef>
                <a:spcPts val="0"/>
              </a:spcBef>
            </a:pPr>
            <a:r>
              <a:rPr b="1"/>
              <a:t>Reverse</a:t>
            </a:r>
            <a:r>
              <a:t> – анализ бинарного кода (reverse-engineering)</a:t>
            </a:r>
          </a:p>
          <a:p>
            <a:pPr marL="482600" indent="-482600" defTabSz="457200">
              <a:lnSpc>
                <a:spcPct val="100000"/>
              </a:lnSpc>
              <a:spcBef>
                <a:spcPts val="0"/>
              </a:spcBef>
            </a:pPr>
            <a:r>
              <a:rPr b="1"/>
              <a:t>Pwn</a:t>
            </a:r>
            <a:r>
              <a:t> – эксплуатация уязвимостей</a:t>
            </a:r>
          </a:p>
          <a:p>
            <a:pPr marL="482600" indent="-482600" defTabSz="457200">
              <a:lnSpc>
                <a:spcPct val="100000"/>
              </a:lnSpc>
              <a:spcBef>
                <a:spcPts val="0"/>
              </a:spcBef>
            </a:pPr>
            <a:r>
              <a:rPr b="1"/>
              <a:t>Admin</a:t>
            </a:r>
            <a:r>
              <a:t> – навыки администрирования</a:t>
            </a:r>
          </a:p>
          <a:p>
            <a:pPr marL="482600" indent="-482600" defTabSz="457200">
              <a:lnSpc>
                <a:spcPct val="100000"/>
              </a:lnSpc>
              <a:spcBef>
                <a:spcPts val="0"/>
              </a:spcBef>
            </a:pPr>
            <a:r>
              <a:rPr b="1"/>
              <a:t>Network</a:t>
            </a:r>
            <a:r>
              <a:t> – знание сетевой инфраструктуры и протоколов</a:t>
            </a:r>
          </a:p>
          <a:p>
            <a:pPr marL="482600" indent="-482600" defTabSz="457200">
              <a:lnSpc>
                <a:spcPct val="100000"/>
              </a:lnSpc>
              <a:spcBef>
                <a:spcPts val="0"/>
              </a:spcBef>
            </a:pPr>
            <a:r>
              <a:rPr b="1"/>
              <a:t>Crypto</a:t>
            </a:r>
            <a:r>
              <a:t> – криптография</a:t>
            </a:r>
          </a:p>
          <a:p>
            <a:pPr marL="482600" indent="-482600" defTabSz="457200">
              <a:lnSpc>
                <a:spcPct val="100000"/>
              </a:lnSpc>
              <a:spcBef>
                <a:spcPts val="0"/>
              </a:spcBef>
            </a:pPr>
            <a:r>
              <a:rPr b="1"/>
              <a:t>Stegano</a:t>
            </a:r>
            <a:r>
              <a:t> – стеганография</a:t>
            </a:r>
          </a:p>
          <a:p>
            <a:pPr marL="482600" indent="-482600" defTabSz="457200">
              <a:lnSpc>
                <a:spcPct val="100000"/>
              </a:lnSpc>
              <a:spcBef>
                <a:spcPts val="0"/>
              </a:spcBef>
            </a:pPr>
            <a:r>
              <a:rPr b="1"/>
              <a:t>PPC</a:t>
            </a:r>
            <a:r>
              <a:t> — олимпиадное программирование (professional</a:t>
            </a:r>
          </a:p>
          <a:p>
            <a:pPr marL="482600" indent="-482600" defTabSz="457200">
              <a:lnSpc>
                <a:spcPct val="100000"/>
              </a:lnSpc>
              <a:spcBef>
                <a:spcPts val="0"/>
              </a:spcBef>
            </a:pPr>
            <a:r>
              <a:t>programming and coding)</a:t>
            </a:r>
          </a:p>
          <a:p>
            <a:pPr marL="482600" indent="-482600" defTabSz="457200">
              <a:lnSpc>
                <a:spcPct val="100000"/>
              </a:lnSpc>
              <a:spcBef>
                <a:spcPts val="0"/>
              </a:spcBef>
            </a:pPr>
            <a:r>
              <a:rPr b="1"/>
              <a:t>Web</a:t>
            </a:r>
            <a:r>
              <a:t> – поиск и использование Web-уязвимостей</a:t>
            </a:r>
          </a:p>
          <a:p>
            <a:pPr marL="482600" indent="-482600" defTabSz="457200">
              <a:lnSpc>
                <a:spcPct val="100000"/>
              </a:lnSpc>
              <a:spcBef>
                <a:spcPts val="0"/>
              </a:spcBef>
            </a:pPr>
            <a:r>
              <a:rPr b="1"/>
              <a:t>Misc</a:t>
            </a:r>
            <a:r>
              <a:t> – всякая всячина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Компьютерная криминалистика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defTabSz="709930">
              <a:defRPr sz="4730"/>
            </a:lvl1pPr>
          </a:lstStyle>
          <a:p>
            <a:r>
              <a:t>Компьютерная криминалистика</a:t>
            </a:r>
          </a:p>
        </p:txBody>
      </p:sp>
      <p:sp>
        <p:nvSpPr>
          <p:cNvPr id="161" name="Виды задач, встречающиеся в тасках CTF: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</a:pPr>
            <a:r>
              <a:t>Виды задач, встречающиеся в тасках CTF: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Font typeface="Times Roman"/>
            </a:pPr>
            <a:r>
              <a:t> Восстановление данных (в том числе и удаленных)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Font typeface="Times Roman"/>
            </a:pPr>
            <a:r>
              <a:t> Анализ логов (журналы аудита, лог-файлы программ)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Font typeface="Times Roman"/>
            </a:pPr>
            <a:r>
              <a:t> Анализ сетевого трафика</a:t>
            </a:r>
          </a:p>
        </p:txBody>
      </p:sp>
      <p:sp>
        <p:nvSpPr>
          <p:cNvPr id="162" name="Форензи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Форензика</a:t>
            </a:r>
          </a:p>
        </p:txBody>
      </p:sp>
      <p:pic>
        <p:nvPicPr>
          <p:cNvPr id="16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9719" y="2153524"/>
            <a:ext cx="12552161" cy="94089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Обратная разработка — исследование некоторого устройства или программы, а также документации на него с целью понять принцип его работы;…"/>
          <p:cNvSpPr txBox="1">
            <a:spLocks noGrp="1"/>
          </p:cNvSpPr>
          <p:nvPr>
            <p:ph type="body" sz="half" idx="1"/>
          </p:nvPr>
        </p:nvSpPr>
        <p:spPr>
          <a:xfrm>
            <a:off x="1206499" y="2729685"/>
            <a:ext cx="9779001" cy="10057213"/>
          </a:xfrm>
          <a:prstGeom prst="rect">
            <a:avLst/>
          </a:prstGeom>
        </p:spPr>
        <p:txBody>
          <a:bodyPr/>
          <a:lstStyle/>
          <a:p>
            <a:pPr marL="0" indent="0" defTabSz="443484">
              <a:lnSpc>
                <a:spcPct val="100000"/>
              </a:lnSpc>
              <a:spcBef>
                <a:spcPts val="0"/>
              </a:spcBef>
              <a:buSzTx/>
              <a:buNone/>
              <a:defRPr sz="4656"/>
            </a:pPr>
            <a:r>
              <a:rPr b="1"/>
              <a:t>Обратная разработка</a:t>
            </a:r>
            <a:r>
              <a:t> — исследование некоторого устройства или программы, а также документации на него с целью понять принцип его работы;</a:t>
            </a:r>
          </a:p>
          <a:p>
            <a:pPr marL="0" indent="0" defTabSz="443484">
              <a:lnSpc>
                <a:spcPct val="100000"/>
              </a:lnSpc>
              <a:spcBef>
                <a:spcPts val="0"/>
              </a:spcBef>
              <a:buSzTx/>
              <a:buNone/>
              <a:defRPr sz="4656"/>
            </a:pPr>
            <a:endParaRPr/>
          </a:p>
          <a:p>
            <a:pPr marL="0" indent="0" defTabSz="443484">
              <a:lnSpc>
                <a:spcPct val="100000"/>
              </a:lnSpc>
              <a:spcBef>
                <a:spcPts val="0"/>
              </a:spcBef>
              <a:buSzTx/>
              <a:buNone/>
              <a:defRPr sz="4656" b="1"/>
            </a:pPr>
            <a:r>
              <a:t>Цель в CTF - найти флаг в исполняемом файле.</a:t>
            </a:r>
          </a:p>
          <a:p>
            <a:pPr marL="0" indent="0" defTabSz="443484">
              <a:lnSpc>
                <a:spcPct val="100000"/>
              </a:lnSpc>
              <a:spcBef>
                <a:spcPts val="0"/>
              </a:spcBef>
              <a:buSzTx/>
              <a:buNone/>
              <a:defRPr sz="4656" b="1"/>
            </a:pPr>
            <a:endParaRPr/>
          </a:p>
          <a:p>
            <a:pPr marL="0" indent="0" defTabSz="443484">
              <a:lnSpc>
                <a:spcPct val="100000"/>
              </a:lnSpc>
              <a:spcBef>
                <a:spcPts val="0"/>
              </a:spcBef>
              <a:buSzTx/>
              <a:buNone/>
              <a:defRPr sz="4656"/>
            </a:pPr>
            <a:r>
              <a:t>А еще с помощью реверса пиратят проги, но это совсем другая история…</a:t>
            </a:r>
          </a:p>
        </p:txBody>
      </p:sp>
      <p:pic>
        <p:nvPicPr>
          <p:cNvPr id="166" name="Small section of a modern shell bridge in Qingdao, Shandong, China with a partly cloudy sky above" descr="Small section of a modern shell bridge in Qingdao, Shandong, China with a partly cloudy sky above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 l="19943" t="6653" r="30373" b="2194"/>
          <a:stretch>
            <a:fillRect/>
          </a:stretch>
        </p:blipFill>
        <p:spPr>
          <a:xfrm>
            <a:off x="11793678" y="913804"/>
            <a:ext cx="11704059" cy="11888457"/>
          </a:xfrm>
          <a:prstGeom prst="rect">
            <a:avLst/>
          </a:prstGeom>
        </p:spPr>
      </p:pic>
      <p:sp>
        <p:nvSpPr>
          <p:cNvPr id="167" name="Revers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Reverse</a:t>
            </a:r>
          </a:p>
        </p:txBody>
      </p:sp>
      <p:sp>
        <p:nvSpPr>
          <p:cNvPr id="168" name="Время почитать Лурочку -  http://lurkmore.to/Reverse_Engineering"/>
          <p:cNvSpPr txBox="1"/>
          <p:nvPr/>
        </p:nvSpPr>
        <p:spPr>
          <a:xfrm>
            <a:off x="292207" y="12693846"/>
            <a:ext cx="18698566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4800">
                <a:solidFill>
                  <a:srgbClr val="000000"/>
                </a:solidFill>
              </a:defRPr>
            </a:pPr>
            <a:r>
              <a:t>Время почитать Лурочку -  </a:t>
            </a:r>
            <a:r>
              <a:rPr u="sng">
                <a:hlinkClick r:id="rId3"/>
              </a:rPr>
              <a:t>http://lurkmore.to/Reverse_Engineering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W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PWN</a:t>
            </a:r>
          </a:p>
        </p:txBody>
      </p:sp>
      <p:sp>
        <p:nvSpPr>
          <p:cNvPr id="171" name="Эксплуатация уязвимостей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Эксплуатация уязвимостей</a:t>
            </a:r>
          </a:p>
        </p:txBody>
      </p:sp>
      <p:sp>
        <p:nvSpPr>
          <p:cNvPr id="172" name="Exploiting или Pwn (&quot;бинарная эксплуатация&quot;) — это категория задач, в которых, как правило, нужно искать и эксплуатировать уязвимости в скомпилированных приложениях. Чаще всего это уязвимости повреждения памяти (memory corruption).…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971000" cy="8817751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1600"/>
              </a:spcBef>
              <a:buSzTx/>
              <a:buNone/>
            </a:pPr>
            <a:r>
              <a:rPr b="1"/>
              <a:t>Exploiting</a:t>
            </a:r>
            <a:r>
              <a:t> или </a:t>
            </a:r>
            <a:r>
              <a:rPr b="1"/>
              <a:t>Pwn</a:t>
            </a:r>
            <a:r>
              <a:t> ("бинарная эксплуатация") — это категория задач, в которых, как правило, нужно искать и эксплуатировать уязвимости в скомпилированных приложениях. Чаще всего это уязвимости повреждения памяти (memory corruption).</a:t>
            </a:r>
          </a:p>
          <a:p>
            <a:pPr marL="0" indent="0" defTabSz="457200">
              <a:lnSpc>
                <a:spcPct val="100000"/>
              </a:lnSpc>
              <a:spcBef>
                <a:spcPts val="1600"/>
              </a:spcBef>
              <a:buSzTx/>
              <a:buNone/>
            </a:pPr>
            <a:r>
              <a:t>Наиболее известным и распространённым случаем повреждения памяти является </a:t>
            </a:r>
            <a:r>
              <a:rPr b="1"/>
              <a:t>переполнение буфера</a:t>
            </a:r>
            <a:r>
              <a:t>. Таким образом, хакер может выйти за границы буфера и переписать какие-то иные участки памяти, в которых могут быть важные данные. Классический способ эксплуатации — это перетирание адреса возврата (return address). Это адрес памяти, на который программа "перепрыгнет" после завершения выполнения текущей функции.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Поиск уязвимостей сети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Поиск уязвимостей сети</a:t>
            </a:r>
          </a:p>
        </p:txBody>
      </p:sp>
      <p:sp>
        <p:nvSpPr>
          <p:cNvPr id="175" name="Атаки на HTTP/FTP/NTP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Атаки на HTTP/FTP/NTP</a:t>
            </a:r>
          </a:p>
          <a:p>
            <a:r>
              <a:t>TLS атаки</a:t>
            </a:r>
          </a:p>
          <a:p>
            <a:r>
              <a:t>Сниффинг трафика</a:t>
            </a:r>
          </a:p>
          <a:p>
            <a:r>
              <a:t>Получение информации из. HTTPS-пакетов</a:t>
            </a:r>
          </a:p>
        </p:txBody>
      </p:sp>
      <p:pic>
        <p:nvPicPr>
          <p:cNvPr id="176" name="Small section of a modern shell bridge in Qingdao, Shandong, China with a partly cloudy sky above" descr="Small section of a modern shell bridge in Qingdao, Shandong, China with a partly cloudy sky above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/>
          <a:stretch>
            <a:fillRect/>
          </a:stretch>
        </p:blipFill>
        <p:spPr>
          <a:xfrm>
            <a:off x="10886904" y="2310209"/>
            <a:ext cx="13517635" cy="9095437"/>
          </a:xfrm>
          <a:prstGeom prst="rect">
            <a:avLst/>
          </a:prstGeom>
        </p:spPr>
      </p:pic>
      <p:sp>
        <p:nvSpPr>
          <p:cNvPr id="177" name="Network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Network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Дешифровка и шифрование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defTabSz="808990">
              <a:defRPr sz="5390"/>
            </a:lvl1pPr>
          </a:lstStyle>
          <a:p>
            <a:r>
              <a:t>Дешифровка и шифрование</a:t>
            </a:r>
          </a:p>
        </p:txBody>
      </p:sp>
      <p:sp>
        <p:nvSpPr>
          <p:cNvPr id="180" name="Расшифровка и шифрование различными кодировками(Base64 и т.д.)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Расшифровка и шифрование различными кодировками(Base64 и т.д.)</a:t>
            </a:r>
          </a:p>
          <a:p>
            <a:r>
              <a:t>Дешифровка простейших шифров брутфорсом(Цезарь, Виженер и т.д.)</a:t>
            </a:r>
          </a:p>
          <a:p>
            <a:r>
              <a:t>Использование эксплоитов в ассиметричных и симметричных шифрах(AES, RSA и т.д.)</a:t>
            </a:r>
          </a:p>
        </p:txBody>
      </p:sp>
      <p:pic>
        <p:nvPicPr>
          <p:cNvPr id="181" name="Small section of a modern shell bridge in Qingdao, Shandong, China with a partly cloudy sky above" descr="Small section of a modern shell bridge in Qingdao, Shandong, China with a partly cloudy sky above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 l="261" r="261"/>
          <a:stretch>
            <a:fillRect/>
          </a:stretch>
        </p:blipFill>
        <p:spPr>
          <a:xfrm>
            <a:off x="11083272" y="1910159"/>
            <a:ext cx="13125213" cy="9895639"/>
          </a:xfrm>
          <a:prstGeom prst="rect">
            <a:avLst/>
          </a:prstGeom>
        </p:spPr>
      </p:pic>
      <p:sp>
        <p:nvSpPr>
          <p:cNvPr id="182" name="Криптография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Криптография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Спортивное программирование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Спортивное программирование</a:t>
            </a:r>
          </a:p>
        </p:txBody>
      </p:sp>
      <p:sp>
        <p:nvSpPr>
          <p:cNvPr id="185" name="Решение задач различной сложности с ограничением по времени и памяти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Решение задач различной сложности с ограничением по времени и памяти</a:t>
            </a:r>
          </a:p>
          <a:p>
            <a:r>
              <a:t>Чаще всего это задачи на сортировки, графы, поиск и т.д.</a:t>
            </a:r>
          </a:p>
          <a:p>
            <a:r>
              <a:t>Схожи с олимпиадами задачами 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Моя любимая тема!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Моя любимая тема!</a:t>
            </a:r>
          </a:p>
        </p:txBody>
      </p:sp>
      <p:sp>
        <p:nvSpPr>
          <p:cNvPr id="188" name="Стеганография - это практика сокрытия информации в каком-либо тексте или данных. В отличие от криптографии, которая скрывает содержимое секретного сообщения, стеганография скрывает сам факт его существования.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457200">
              <a:lnSpc>
                <a:spcPct val="100000"/>
              </a:lnSpc>
              <a:spcBef>
                <a:spcPts val="1600"/>
              </a:spcBef>
              <a:buSzTx/>
              <a:buNone/>
              <a:defRPr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Стеганография - это практика сокрытия информации в каком-либо тексте или данных. В отличие от криптографии, которая скрывает содержимое секретного сообщения, стеганография скрывает сам факт его существования. </a:t>
            </a:r>
          </a:p>
        </p:txBody>
      </p:sp>
      <p:pic>
        <p:nvPicPr>
          <p:cNvPr id="189" name="Small section of a modern shell bridge in Qingdao, Shandong, China with a partly cloudy sky above" descr="Small section of a modern shell bridge in Qingdao, Shandong, China with a partly cloudy sky above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 l="287" r="287"/>
          <a:stretch>
            <a:fillRect/>
          </a:stretch>
        </p:blipFill>
        <p:spPr>
          <a:xfrm>
            <a:off x="10950319" y="2665015"/>
            <a:ext cx="13390796" cy="8385946"/>
          </a:xfrm>
          <a:prstGeom prst="rect">
            <a:avLst/>
          </a:prstGeom>
        </p:spPr>
      </p:pic>
      <p:sp>
        <p:nvSpPr>
          <p:cNvPr id="190" name="Стеганография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Стеганография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Web - это одна из категорий тасков CTF, включающая в себя анализ получаемых и передаваемых вэб приложению данных, поиск, эксплуатирование уязвимостей и защита от них различных вэб приложений,разнообразный взлом, вэб подмену информации, использование ошиб"/>
          <p:cNvSpPr txBox="1">
            <a:spLocks noGrp="1"/>
          </p:cNvSpPr>
          <p:nvPr>
            <p:ph type="body" sz="half" idx="1"/>
          </p:nvPr>
        </p:nvSpPr>
        <p:spPr>
          <a:xfrm>
            <a:off x="1206500" y="4248504"/>
            <a:ext cx="10754564" cy="8256630"/>
          </a:xfrm>
          <a:prstGeom prst="rect">
            <a:avLst/>
          </a:prstGeom>
        </p:spPr>
        <p:txBody>
          <a:bodyPr/>
          <a:lstStyle/>
          <a:p>
            <a:pPr marL="0" indent="0" defTabSz="333756">
              <a:lnSpc>
                <a:spcPct val="100000"/>
              </a:lnSpc>
              <a:spcBef>
                <a:spcPts val="1100"/>
              </a:spcBef>
              <a:buSzTx/>
              <a:buNone/>
              <a:defRPr sz="3504"/>
            </a:pPr>
            <a:r>
              <a:rPr b="1"/>
              <a:t>Web</a:t>
            </a:r>
            <a:r>
              <a:t> - это одна из категорий тасков CTF, включающая в себя анализ получаемых и передаваемых вэб приложению данных, поиск, эксплуатирование уязвимостей и защита от них различных вэб приложений,разнообразный взлом, вэб подмену информации, использование ошибок проектирования в настройке сервера. Например, внедрение </a:t>
            </a:r>
            <a:r>
              <a:rPr i="1"/>
              <a:t>SQL-инъекций</a:t>
            </a:r>
            <a:r>
              <a:t>, </a:t>
            </a:r>
            <a:r>
              <a:rPr i="1"/>
              <a:t>XSS-инъекций</a:t>
            </a:r>
            <a:r>
              <a:t>, </a:t>
            </a:r>
            <a:r>
              <a:rPr i="1"/>
              <a:t>PHP-инъекций</a:t>
            </a:r>
            <a:r>
              <a:t>, проведение </a:t>
            </a:r>
            <a:r>
              <a:rPr i="1"/>
              <a:t>"Man-in-the-middle"</a:t>
            </a:r>
            <a:r>
              <a:t>, </a:t>
            </a:r>
            <a:r>
              <a:rPr i="1"/>
              <a:t>"Meet-in-the-middle_attack"</a:t>
            </a:r>
            <a:r>
              <a:t>, </a:t>
            </a:r>
            <a:r>
              <a:rPr i="1"/>
              <a:t>"Man_in_the_Browser"</a:t>
            </a:r>
            <a:r>
              <a:t> атак и многого другого. Довольно обширная категория, которая включает в себя разнообразный взлом, подмену информации, использование дырок в настройке сервера - и всё это через сетевое подключение.</a:t>
            </a:r>
          </a:p>
        </p:txBody>
      </p:sp>
      <p:pic>
        <p:nvPicPr>
          <p:cNvPr id="193" name="Small section of a modern shell bridge in Qingdao, Shandong, China with a partly cloudy sky above" descr="Small section of a modern shell bridge in Qingdao, Shandong, China with a partly cloudy sky above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 l="116" r="116"/>
          <a:stretch>
            <a:fillRect/>
          </a:stretch>
        </p:blipFill>
        <p:spPr>
          <a:xfrm>
            <a:off x="11987750" y="1263848"/>
            <a:ext cx="11316295" cy="11188205"/>
          </a:xfrm>
          <a:prstGeom prst="rect">
            <a:avLst/>
          </a:prstGeom>
        </p:spPr>
      </p:pic>
      <p:sp>
        <p:nvSpPr>
          <p:cNvPr id="194" name="Web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Web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Где брать инфу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Где брать инфу?</a:t>
            </a:r>
          </a:p>
        </p:txBody>
      </p:sp>
      <p:sp>
        <p:nvSpPr>
          <p:cNvPr id="197" name="https://kmb.cybber.ru/ — самый популярный в России сайт с большим количеством полезной теории;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Clr>
                <a:srgbClr val="213B8F"/>
              </a:buClr>
              <a:buFont typeface="Helvetica"/>
              <a:defRPr>
                <a:solidFill>
                  <a:srgbClr val="333333"/>
                </a:solidFill>
              </a:defRPr>
            </a:pPr>
            <a:r>
              <a:rPr>
                <a:solidFill>
                  <a:srgbClr val="213B8F"/>
                </a:solidFill>
                <a:hlinkClick r:id="rId2"/>
              </a:rPr>
              <a:t>https://kmb.cybber.ru/</a:t>
            </a:r>
            <a:r>
              <a:t> — самый популярный в России сайт с большим количеством полезной теории;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None/>
              <a:defRPr>
                <a:solidFill>
                  <a:srgbClr val="333333"/>
                </a:solidFill>
              </a:defRPr>
            </a:pPr>
            <a:r>
              <a:rPr>
                <a:solidFill>
                  <a:srgbClr val="213B8F"/>
                </a:solidFill>
                <a:hlinkClick r:id="rId3"/>
              </a:rPr>
              <a:t>https://github.com/Snifer/security-cheatsheets</a:t>
            </a:r>
            <a:r>
              <a:t> — гайды по почти всем программам, которые используют специалисты по информационной безопасности;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None/>
              <a:defRPr>
                <a:solidFill>
                  <a:srgbClr val="333333"/>
                </a:solidFill>
              </a:defRPr>
            </a:pPr>
            <a:r>
              <a:rPr>
                <a:solidFill>
                  <a:srgbClr val="213B8F"/>
                </a:solidFill>
                <a:hlinkClick r:id="rId4"/>
              </a:rPr>
              <a:t>https://www.youtube.com/channel/UCaqi7baKiDd8jMR_fyjjccw</a:t>
            </a:r>
            <a:r>
              <a:t> — канал сообщества SPbCTF с циклами видеолекций, стримами и онлайн-разборами заданий;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6630ed2420c70b3fe010231af0d8c00d.jpg" descr="6630ed2420c70b3fe010231af0d8c00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826" y="1217215"/>
            <a:ext cx="14078211" cy="112817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33_DynamicLight">
  <a:themeElements>
    <a:clrScheme name="33_DynamicLight">
      <a:dk1>
        <a:srgbClr val="5E5E5E"/>
      </a:dk1>
      <a:lt1>
        <a:srgbClr val="005E00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Произвольный</PresentationFormat>
  <Slides>13</Slides>
  <Notes>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33_DynamicLight</vt:lpstr>
      <vt:lpstr>CTF</vt:lpstr>
      <vt:lpstr>Типы CTF</vt:lpstr>
      <vt:lpstr>Задачи на task-based CTF</vt:lpstr>
      <vt:lpstr>Форензика</vt:lpstr>
      <vt:lpstr>Reverse</vt:lpstr>
      <vt:lpstr>PWN</vt:lpstr>
      <vt:lpstr>Network</vt:lpstr>
      <vt:lpstr>Криптография</vt:lpstr>
      <vt:lpstr>Спортивное программирование</vt:lpstr>
      <vt:lpstr>Стеганография</vt:lpstr>
      <vt:lpstr>Web</vt:lpstr>
      <vt:lpstr>Где брать инфу?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CTF</dc:title>
  <cp:lastModifiedBy>Егор Артамонов</cp:lastModifiedBy>
  <cp:revision>1</cp:revision>
  <dcterms:modified xsi:type="dcterms:W3CDTF">2023-04-24T05:55:42Z</dcterms:modified>
</cp:coreProperties>
</file>